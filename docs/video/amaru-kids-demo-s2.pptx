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4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4CBDA1-2BCF-445F-B814-5C215E159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24755-E3F1-49A5-9CEB-67C54C1FB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922AE7-0C56-4FA3-A2CB-977D6B6E6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24E7A-E9F6-417F-B0B0-C9E43497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5205CB-368C-4C5C-BCDA-8AD77707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880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93C76-32BC-42B2-B18E-3E3EB1B6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2987A7-8949-4749-8BFA-B1F24E49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52940-791C-44E7-B266-1D19B95FF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DEDF76-F3C3-4A4A-8E60-C131F3420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049BF4-031B-4FC4-98C0-E8A8F8A3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5887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37CA1-A746-4834-825E-C45D43DD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EFA2C3-5FFE-403E-8D37-3DAF74D9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73B702-3255-4C93-9DD5-41A65AD6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1C6B01-90B1-4634-AB44-A5B24215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DEAB09-5441-4812-840A-896AF8A3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0254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C1EDD-0672-421E-AEFD-1827E863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83C6D3-3EC7-4A80-B3CB-11FAFDF69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5DE535-5186-43D7-B2FE-3F28948EC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B2E9CC-BF3B-45C0-B7BC-43C329EE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314927-832C-43D8-841A-E6EB000F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CF2A2D-1071-492E-8EC4-A25C480D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890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3DECC-8D0D-4A41-A2D7-D2B6F6EA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D07C58-941C-4B9C-9C07-39658B1CA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B4B339-B6DA-44B9-B1C4-2AB606D39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4BDA02-B858-46AA-9157-48AC007D2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CE8F04-0228-40E6-9C5B-2C81D02EF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F152549-25D3-4B8D-A8D9-F528F204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38A276-0A11-4C25-8EC4-A9CE9DC9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AD28B82-C2F4-44DE-AEFF-8F295B22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928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7AF8E-C5F2-4EC0-9150-CA3346C8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8C41BC-6965-4C4D-8033-56613804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8D8F8D-E0DB-489C-B827-753352D8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371614-592B-485F-92AD-BD649CCA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531612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E28FAC8-C52F-4569-B47E-62802A4F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C9921E6-7DFD-4ED2-A3A5-9AE4C7CE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E4C605-8FDE-4506-8E75-3F4A0795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190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9F64E-41EF-41C6-A4F0-7B052E62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B5E9E2-F94C-4DF4-945F-0C562F5A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E65035-3D6E-4795-9402-4C56D454C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5C3FC6-E28B-4B67-91A6-7FF73AA2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A8BF77-E7B9-42A2-B0EF-A890EB8A5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D535EC-FA16-459F-9DE8-0A72A420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4118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C06C8-4C7B-4FFF-8118-B189DB222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58E739-5098-49FA-A5CB-8C2620F1F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E88EBD-0E2A-43AA-8CF3-EACEA03B6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4C27BA-B4E5-44DA-9263-237E0CCF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8AE68A-AD9A-49FE-87B3-637E6001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D8D8F0-B4F0-4A54-BBF4-6F8D63F9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9368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1F709-E037-45FD-B660-D9B28109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5A62FC-75C2-4C3C-A05A-C29F825E7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9994E1-C6D0-49F7-A8A1-2CE3175C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98D86-08C6-4FF5-91A9-ECCB42C05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87C33B-0B64-4868-B0EA-940AAC61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255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4CC1DA-1F85-4A28-97A4-EE2C37032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32FD5B-1582-4C58-BAFA-854D3061F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080998-3E0C-485F-969A-4F7CEA55A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5D0E09-EDF5-43C7-AA99-7BC0AE43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CCA4C2-D567-471B-A17C-391234C6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1125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537BF79-CE4D-4F03-ACDC-45D505563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06887C-1FF1-4F66-BD67-31AD02675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5DB38E-46AA-44D6-8896-3880E8675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5C09A-0967-41A1-9C57-F68B96D3FAAE}" type="datetimeFigureOut">
              <a:rPr lang="es-EC" smtClean="0"/>
              <a:t>15/6/2026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FBF109-96EF-48E7-9818-D4262F5E5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75251A-8804-47C2-92E0-88F35FD85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9B246-D23A-420B-B75D-746CB880816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225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F190B72-0731-405D-82B5-6305C3051B8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E094B05-9D57-46E0-BA67-BE7254FEAB8B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576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B577E0-983E-434F-8FE6-8EE99132BEAD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400" b="1">
                <a:solidFill>
                  <a:srgbClr val="FFFFFF"/>
                </a:solidFill>
                <a:latin typeface="Aptos Display"/>
              </a:rPr>
              <a:t>AMARU KIDS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47886E-7D88-4517-B70E-C87D5CBCC268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pt-BR" sz="1600">
                <a:solidFill>
                  <a:srgbClr val="E4EED8"/>
                </a:solidFill>
                <a:latin typeface="Aptos Display"/>
              </a:rPr>
              <a:t>Tecnologia inclusiva para transformar vidas</a:t>
            </a:r>
            <a:endParaRPr lang="es-EC" sz="1600">
              <a:solidFill>
                <a:srgbClr val="E4EED8"/>
              </a:solidFill>
              <a:latin typeface="Aptos Display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26A200-E8D7-479B-92A1-0BB2372A44B2}"/>
              </a:ext>
            </a:extLst>
          </p:cNvPr>
          <p:cNvSpPr txBox="1"/>
          <p:nvPr/>
        </p:nvSpPr>
        <p:spPr>
          <a:xfrm>
            <a:off x="1016000" y="2159000"/>
            <a:ext cx="6350000" cy="54373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2200" b="1">
                <a:solidFill>
                  <a:srgbClr val="576B17"/>
                </a:solidFill>
                <a:latin typeface="Aptos Display"/>
              </a:rPr>
              <a:t>Problema en 1 oracion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8DAB90-BAA1-4685-AAAD-F2E43C3A18CE}"/>
              </a:ext>
            </a:extLst>
          </p:cNvPr>
          <p:cNvSpPr txBox="1"/>
          <p:nvPr/>
        </p:nvSpPr>
        <p:spPr>
          <a:xfrm>
            <a:off x="1016000" y="2857500"/>
            <a:ext cx="9652000" cy="1682512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200" b="1">
                <a:solidFill>
                  <a:srgbClr val="1F2117"/>
                </a:solidFill>
                <a:latin typeface="Aptos Display"/>
              </a:rPr>
              <a:t>Muchos ninos con discapacidad visual, auditiva o dificultades de comunicacion no pueden aprender con apps educativas que no se adaptan a ellos.</a:t>
            </a:r>
            <a:endParaRPr lang="es-EC" sz="3200" b="1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6E9566-90E0-4F37-B07D-DCD06D0ACC2E}"/>
              </a:ext>
            </a:extLst>
          </p:cNvPr>
          <p:cNvSpPr txBox="1"/>
          <p:nvPr/>
        </p:nvSpPr>
        <p:spPr>
          <a:xfrm>
            <a:off x="1041400" y="5334000"/>
            <a:ext cx="8255000" cy="943848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2400">
                <a:solidFill>
                  <a:srgbClr val="5E6352"/>
                </a:solidFill>
                <a:latin typeface="Aptos Display"/>
              </a:rPr>
              <a:t>+900.000 personas en Ecuador presentan dificultades visuales, auditivas o de comunicacion.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988EB55-CCF4-4F19-A5FD-391D0DED7BC1}"/>
              </a:ext>
            </a:extLst>
          </p:cNvPr>
          <p:cNvSpPr/>
          <p:nvPr/>
        </p:nvSpPr>
        <p:spPr>
          <a:xfrm>
            <a:off x="1041400" y="6794500"/>
            <a:ext cx="4064000" cy="609600"/>
          </a:xfrm>
          <a:prstGeom prst="rect">
            <a:avLst/>
          </a:prstGeom>
          <a:solidFill>
            <a:srgbClr val="E4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>
                <a:solidFill>
                  <a:srgbClr val="2A3012"/>
                </a:solidFill>
                <a:latin typeface="Aptos"/>
              </a:rPr>
              <a:t>ODS 4: Educacion de calidad</a:t>
            </a:r>
            <a:endParaRPr lang="es-EC" b="1">
              <a:solidFill>
                <a:srgbClr val="2A3012"/>
              </a:solidFill>
              <a:latin typeface="Aptos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9F96BA9-70A2-4A8B-B05A-EBC11C9FCDB1}"/>
              </a:ext>
            </a:extLst>
          </p:cNvPr>
          <p:cNvSpPr/>
          <p:nvPr/>
        </p:nvSpPr>
        <p:spPr>
          <a:xfrm>
            <a:off x="5461000" y="6794500"/>
            <a:ext cx="4318000" cy="6096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753F1D"/>
                </a:solidFill>
                <a:latin typeface="Aptos"/>
              </a:rPr>
              <a:t>ODS 10: Menos desigualdad</a:t>
            </a:r>
          </a:p>
        </p:txBody>
      </p:sp>
    </p:spTree>
    <p:extLst>
      <p:ext uri="{BB962C8B-B14F-4D97-AF65-F5344CB8AC3E}">
        <p14:creationId xmlns:p14="http://schemas.microsoft.com/office/powerpoint/2010/main" val="382802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D05D243-168B-4324-87BE-CE1A8743EE21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A5E509-56CF-4D1C-9E80-590424EEBEB0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576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9EA903-2863-46C6-B3E4-E7A880F507DD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400" b="1">
                <a:solidFill>
                  <a:srgbClr val="FFFFFF"/>
                </a:solidFill>
                <a:latin typeface="Aptos Display"/>
              </a:rPr>
              <a:t>Pantalla principal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75E47E5-FE29-4C6A-9D01-C8DA22567656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1600">
                <a:solidFill>
                  <a:srgbClr val="E4EED8"/>
                </a:solidFill>
                <a:latin typeface="Aptos Display"/>
              </a:rPr>
              <a:t>El usuario entra y ve una experiencia educativa inclusiva.</a:t>
            </a:r>
            <a:endParaRPr lang="es-EC" sz="1600">
              <a:solidFill>
                <a:srgbClr val="E4EED8"/>
              </a:solidFill>
              <a:latin typeface="Aptos Display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0B70246-ABD8-4339-9EAC-F2071B209B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968500"/>
            <a:ext cx="10033000" cy="61595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9E03185-3E77-41D8-878F-76AF5FC851EB}"/>
              </a:ext>
            </a:extLst>
          </p:cNvPr>
          <p:cNvSpPr txBox="1"/>
          <p:nvPr/>
        </p:nvSpPr>
        <p:spPr>
          <a:xfrm>
            <a:off x="11430000" y="2286000"/>
            <a:ext cx="3810000" cy="135934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2500" b="1">
                <a:solidFill>
                  <a:srgbClr val="1F2117"/>
                </a:solidFill>
                <a:latin typeface="Aptos Display"/>
              </a:rPr>
              <a:t>La app presenta el lema, el impacto social y el acceso directo al MVP interactivo.</a:t>
            </a:r>
            <a:endParaRPr lang="es-EC" sz="2500" b="1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4D5570-C642-43CD-B94A-69E8AD8BDB14}"/>
              </a:ext>
            </a:extLst>
          </p:cNvPr>
          <p:cNvSpPr/>
          <p:nvPr/>
        </p:nvSpPr>
        <p:spPr>
          <a:xfrm>
            <a:off x="11493500" y="5080000"/>
            <a:ext cx="2794000" cy="609600"/>
          </a:xfrm>
          <a:prstGeom prst="rect">
            <a:avLst/>
          </a:prstGeom>
          <a:solidFill>
            <a:srgbClr val="E4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2A3012"/>
                </a:solidFill>
                <a:latin typeface="Aptos"/>
              </a:rPr>
              <a:t>Web publica</a:t>
            </a:r>
          </a:p>
        </p:txBody>
      </p:sp>
    </p:spTree>
    <p:extLst>
      <p:ext uri="{BB962C8B-B14F-4D97-AF65-F5344CB8AC3E}">
        <p14:creationId xmlns:p14="http://schemas.microsoft.com/office/powerpoint/2010/main" val="3125302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BFB3215-4538-41E0-A7A1-D01E8618BD2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BD5509-1306-4F07-A9B2-44FFF1028066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753F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84904A-F908-48E2-AEC7-6A85470949FE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400" b="1">
                <a:solidFill>
                  <a:srgbClr val="FFFFFF"/>
                </a:solidFill>
                <a:latin typeface="Aptos Display"/>
              </a:rPr>
              <a:t>Flujo del MVP: perfil de accesibilidad</a:t>
            </a:r>
            <a:endParaRPr lang="es-EC" sz="34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7CF1B0C-B1A5-4841-AD42-7EEECEE46848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1600">
                <a:solidFill>
                  <a:srgbClr val="E4EED8"/>
                </a:solidFill>
                <a:latin typeface="Aptos Display"/>
              </a:rPr>
              <a:t>La tecnologia se adapta al nino, no al reves.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236FBF-443F-4461-9DE4-05633A0804C3}"/>
              </a:ext>
            </a:extLst>
          </p:cNvPr>
          <p:cNvSpPr txBox="1"/>
          <p:nvPr/>
        </p:nvSpPr>
        <p:spPr>
          <a:xfrm>
            <a:off x="1143000" y="2159000"/>
            <a:ext cx="7112000" cy="66684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000" b="1">
                <a:solidFill>
                  <a:srgbClr val="1F2117"/>
                </a:solidFill>
                <a:latin typeface="Aptos Display"/>
              </a:rPr>
              <a:t>El usuario selecciona sus necesidades:</a:t>
            </a:r>
            <a:endParaRPr lang="es-EC" sz="3000" b="1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16D33D-00C2-46EA-ABE0-FD54BA67A6A4}"/>
              </a:ext>
            </a:extLst>
          </p:cNvPr>
          <p:cNvSpPr/>
          <p:nvPr/>
        </p:nvSpPr>
        <p:spPr>
          <a:xfrm>
            <a:off x="1206500" y="3175000"/>
            <a:ext cx="3810000" cy="609600"/>
          </a:xfrm>
          <a:prstGeom prst="rect">
            <a:avLst/>
          </a:prstGeom>
          <a:solidFill>
            <a:srgbClr val="181A1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FFFFFF"/>
                </a:solidFill>
                <a:latin typeface="Aptos"/>
              </a:rPr>
              <a:t>Discapacidad visual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24B4500-7E61-4C67-B2D9-071B8FA369AC}"/>
              </a:ext>
            </a:extLst>
          </p:cNvPr>
          <p:cNvSpPr/>
          <p:nvPr/>
        </p:nvSpPr>
        <p:spPr>
          <a:xfrm>
            <a:off x="5397500" y="3175000"/>
            <a:ext cx="4064000" cy="6096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753F1D"/>
                </a:solidFill>
                <a:latin typeface="Aptos"/>
              </a:rPr>
              <a:t>Discapacidad auditiva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4CF0B83-B01C-48FF-9497-A884AD269E8A}"/>
              </a:ext>
            </a:extLst>
          </p:cNvPr>
          <p:cNvSpPr/>
          <p:nvPr/>
        </p:nvSpPr>
        <p:spPr>
          <a:xfrm>
            <a:off x="9842500" y="3175000"/>
            <a:ext cx="3048000" cy="609600"/>
          </a:xfrm>
          <a:prstGeom prst="rect">
            <a:avLst/>
          </a:prstGeom>
          <a:solidFill>
            <a:srgbClr val="E4EE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2A3012"/>
                </a:solidFill>
                <a:latin typeface="Aptos"/>
              </a:rPr>
              <a:t>Comunicacion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DAA098-4D98-471C-B589-6D0787493B82}"/>
              </a:ext>
            </a:extLst>
          </p:cNvPr>
          <p:cNvSpPr/>
          <p:nvPr/>
        </p:nvSpPr>
        <p:spPr>
          <a:xfrm>
            <a:off x="13271500" y="3175000"/>
            <a:ext cx="1524000" cy="609600"/>
          </a:xfrm>
          <a:prstGeom prst="rect">
            <a:avLst/>
          </a:prstGeom>
          <a:solidFill>
            <a:srgbClr val="8AE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002939"/>
                </a:solidFill>
                <a:latin typeface="Aptos"/>
              </a:rPr>
              <a:t>TDAH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303477-1FDF-401D-93DA-69E62DA3DD09}"/>
              </a:ext>
            </a:extLst>
          </p:cNvPr>
          <p:cNvSpPr txBox="1"/>
          <p:nvPr/>
        </p:nvSpPr>
        <p:spPr>
          <a:xfrm>
            <a:off x="1206500" y="4572000"/>
            <a:ext cx="12700000" cy="1159292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100">
                <a:solidFill>
                  <a:srgbClr val="1F2117"/>
                </a:solidFill>
                <a:latin typeface="Aptos Display"/>
              </a:rPr>
              <a:t>La interfaz activa alto contraste, texto ampliado, pictogramas, alertas visuales y actividades cortas segun el perfil.</a:t>
            </a:r>
            <a:endParaRPr lang="es-EC" sz="3100">
              <a:solidFill>
                <a:srgbClr val="1F2117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20945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7C2A4CA-068F-4D28-8099-F0B4AB11FF2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2D6B727-8896-4AEC-94B7-130B5367B2C8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576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3D467EB-432F-4B3D-9470-38526B039F84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400" b="1">
                <a:solidFill>
                  <a:srgbClr val="FFFFFF"/>
                </a:solidFill>
                <a:latin typeface="Aptos Display"/>
              </a:rPr>
              <a:t>Historia interactiva: El viaje de Amaru</a:t>
            </a:r>
            <a:endParaRPr lang="es-EC" sz="34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F778E4-C2D9-4733-A6AC-C0A1DD7F988B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1600">
                <a:solidFill>
                  <a:srgbClr val="E4EED8"/>
                </a:solidFill>
                <a:latin typeface="Aptos Display"/>
              </a:rPr>
              <a:t>El nino aprende con una experiencia clara, visual y motivadora.</a:t>
            </a:r>
            <a:endParaRPr lang="es-EC" sz="1600">
              <a:solidFill>
                <a:srgbClr val="E4EED8"/>
              </a:solidFill>
              <a:latin typeface="Aptos Display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7E48F4-F7A9-4A13-83BF-75A52DB75FDB}"/>
              </a:ext>
            </a:extLst>
          </p:cNvPr>
          <p:cNvSpPr txBox="1"/>
          <p:nvPr/>
        </p:nvSpPr>
        <p:spPr>
          <a:xfrm>
            <a:off x="1143000" y="2286000"/>
            <a:ext cx="9906000" cy="125162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400" b="1">
                <a:solidFill>
                  <a:srgbClr val="1F2117"/>
                </a:solidFill>
                <a:latin typeface="Aptos Display"/>
              </a:rPr>
              <a:t>Amaru descubre una escuela donde todos los ninos pueden aprender a su manera.</a:t>
            </a:r>
            <a:endParaRPr lang="es-EC" sz="3400" b="1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D015A3-D00E-4265-9DEF-33FC79DE7E0F}"/>
              </a:ext>
            </a:extLst>
          </p:cNvPr>
          <p:cNvSpPr/>
          <p:nvPr/>
        </p:nvSpPr>
        <p:spPr>
          <a:xfrm>
            <a:off x="1206500" y="4254500"/>
            <a:ext cx="2286000" cy="6096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753F1D"/>
                </a:solidFill>
                <a:latin typeface="Aptos"/>
              </a:rPr>
              <a:t>Montana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E64617E-448C-476C-9E4D-12F9698DCFF6}"/>
              </a:ext>
            </a:extLst>
          </p:cNvPr>
          <p:cNvSpPr/>
          <p:nvPr/>
        </p:nvSpPr>
        <p:spPr>
          <a:xfrm>
            <a:off x="3873500" y="4254500"/>
            <a:ext cx="2286000" cy="6096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753F1D"/>
                </a:solidFill>
                <a:latin typeface="Aptos"/>
              </a:rPr>
              <a:t>Escuela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EB6BB85-F2C6-4DE0-AD24-BA12A750C6EA}"/>
              </a:ext>
            </a:extLst>
          </p:cNvPr>
          <p:cNvSpPr/>
          <p:nvPr/>
        </p:nvSpPr>
        <p:spPr>
          <a:xfrm>
            <a:off x="6540500" y="4254500"/>
            <a:ext cx="2286000" cy="6096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753F1D"/>
                </a:solidFill>
                <a:latin typeface="Aptos"/>
              </a:rPr>
              <a:t>Amistad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9B1A87-07DF-43C7-817C-FDD7539CDCB8}"/>
              </a:ext>
            </a:extLst>
          </p:cNvPr>
          <p:cNvSpPr txBox="1"/>
          <p:nvPr/>
        </p:nvSpPr>
        <p:spPr>
          <a:xfrm>
            <a:off x="1143000" y="5969000"/>
            <a:ext cx="11430000" cy="106695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2800">
                <a:solidFill>
                  <a:srgbClr val="5E6352"/>
                </a:solidFill>
                <a:latin typeface="Aptos Display"/>
              </a:rPr>
              <a:t>La app combina texto, pictogramas y pregunta de comprension para cerrar el aprendizaje.</a:t>
            </a:r>
            <a:endParaRPr lang="es-EC" sz="2800">
              <a:solidFill>
                <a:srgbClr val="5E6352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751479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EB88A5C-4848-4B45-986C-541E2C528A6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FB2841-803F-48DD-84CD-72D1003B52F2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576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3731D5-2C13-4A38-B66A-406EBCB164DD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400" b="1">
                <a:solidFill>
                  <a:srgbClr val="FFFFFF"/>
                </a:solidFill>
                <a:latin typeface="Aptos Display"/>
              </a:rPr>
              <a:t>Lectura por voz + recompensas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2E951E-8F2E-48B7-A7E0-6AC9381F656E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1600">
                <a:solidFill>
                  <a:srgbClr val="E4EED8"/>
                </a:solidFill>
                <a:latin typeface="Aptos Display"/>
              </a:rPr>
              <a:t>El MVP apoya autonomia y motivacion.</a:t>
            </a:r>
            <a:endParaRPr lang="es-EC" sz="1600">
              <a:solidFill>
                <a:srgbClr val="E4EED8"/>
              </a:solidFill>
              <a:latin typeface="Aptos Display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5593D9-CE4C-4E59-B7D0-D116B75741BD}"/>
              </a:ext>
            </a:extLst>
          </p:cNvPr>
          <p:cNvSpPr/>
          <p:nvPr/>
        </p:nvSpPr>
        <p:spPr>
          <a:xfrm>
            <a:off x="1143000" y="2413000"/>
            <a:ext cx="3556000" cy="609600"/>
          </a:xfrm>
          <a:prstGeom prst="rect">
            <a:avLst/>
          </a:prstGeom>
          <a:solidFill>
            <a:srgbClr val="576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FFFFFF"/>
                </a:solidFill>
                <a:latin typeface="Aptos"/>
              </a:rPr>
              <a:t>Escuchar historia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DE27BE-6BD9-469B-8C36-32A715D19AF3}"/>
              </a:ext>
            </a:extLst>
          </p:cNvPr>
          <p:cNvSpPr/>
          <p:nvPr/>
        </p:nvSpPr>
        <p:spPr>
          <a:xfrm>
            <a:off x="5143500" y="2413000"/>
            <a:ext cx="3810000" cy="6096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753F1D"/>
                </a:solidFill>
                <a:latin typeface="Aptos"/>
              </a:rPr>
              <a:t>Responder actividad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703DF7-67E9-4B77-905E-7F3615A2A2C5}"/>
              </a:ext>
            </a:extLst>
          </p:cNvPr>
          <p:cNvSpPr/>
          <p:nvPr/>
        </p:nvSpPr>
        <p:spPr>
          <a:xfrm>
            <a:off x="9398000" y="2413000"/>
            <a:ext cx="3302000" cy="609600"/>
          </a:xfrm>
          <a:prstGeom prst="rect">
            <a:avLst/>
          </a:prstGeom>
          <a:solidFill>
            <a:srgbClr val="8AE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C" b="1">
                <a:solidFill>
                  <a:srgbClr val="002939"/>
                </a:solidFill>
                <a:latin typeface="Aptos"/>
              </a:rPr>
              <a:t>Ganar estrella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DC2A607-85B3-444F-B31B-2F5C3C14E28F}"/>
              </a:ext>
            </a:extLst>
          </p:cNvPr>
          <p:cNvSpPr txBox="1"/>
          <p:nvPr/>
        </p:nvSpPr>
        <p:spPr>
          <a:xfrm>
            <a:off x="1143000" y="3937000"/>
            <a:ext cx="12954000" cy="1220847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300" b="1">
                <a:solidFill>
                  <a:srgbClr val="1F2117"/>
                </a:solidFill>
                <a:latin typeface="Aptos Display"/>
              </a:rPr>
              <a:t>El nino escucha el contenido, responde una pregunta y recibe una recompensa visual. La familia ve avance, tiempo de uso y estrellas.</a:t>
            </a:r>
            <a:endParaRPr lang="es-EC" sz="3300" b="1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70F20E-3938-47A4-ACFE-53646E746E06}"/>
              </a:ext>
            </a:extLst>
          </p:cNvPr>
          <p:cNvSpPr txBox="1"/>
          <p:nvPr/>
        </p:nvSpPr>
        <p:spPr>
          <a:xfrm>
            <a:off x="1168400" y="6794500"/>
            <a:ext cx="12446000" cy="57451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2400">
                <a:solidFill>
                  <a:srgbClr val="5E6352"/>
                </a:solidFill>
                <a:latin typeface="Aptos Display"/>
              </a:rPr>
              <a:t>Panel familiar: historia completada · tiempo de uso · estrellas obtenidas</a:t>
            </a:r>
          </a:p>
        </p:txBody>
      </p:sp>
    </p:spTree>
    <p:extLst>
      <p:ext uri="{BB962C8B-B14F-4D97-AF65-F5344CB8AC3E}">
        <p14:creationId xmlns:p14="http://schemas.microsoft.com/office/powerpoint/2010/main" val="1624041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6019199-B1D9-4FD1-A386-0A509B777612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B17F60-969B-4CC6-9DF8-A61E7E6E4E12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F64E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C523B3-622A-44A3-A732-1796E0E9AE75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400" b="1">
                <a:solidFill>
                  <a:srgbClr val="FFFFFF"/>
                </a:solidFill>
                <a:latin typeface="Aptos Display"/>
              </a:rPr>
              <a:t>Funcion de IA / adaptacion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96E329-F23D-464B-A8E1-9292EF00E59A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1600">
                <a:solidFill>
                  <a:srgbClr val="E4EED8"/>
                </a:solidFill>
                <a:latin typeface="Aptos Display"/>
              </a:rPr>
              <a:t>Gemini AI esta preparado para personalizar el contenido educativo.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009A2C-8B58-490D-A9BB-131EEBFF7FE8}"/>
              </a:ext>
            </a:extLst>
          </p:cNvPr>
          <p:cNvSpPr txBox="1"/>
          <p:nvPr/>
        </p:nvSpPr>
        <p:spPr>
          <a:xfrm>
            <a:off x="1270000" y="2286000"/>
            <a:ext cx="3302000" cy="57451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pPr algn="ctr"/>
            <a:r>
              <a:rPr lang="es-EC" sz="2400" b="1">
                <a:solidFill>
                  <a:srgbClr val="1F2117"/>
                </a:solidFill>
                <a:latin typeface="Aptos Display"/>
              </a:rPr>
              <a:t>Perfil de accesibilidad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AA223E-3446-4A89-8654-359BCEDCAEFF}"/>
              </a:ext>
            </a:extLst>
          </p:cNvPr>
          <p:cNvSpPr txBox="1"/>
          <p:nvPr/>
        </p:nvSpPr>
        <p:spPr>
          <a:xfrm>
            <a:off x="4826000" y="2349500"/>
            <a:ext cx="1016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pPr algn="ctr"/>
            <a:r>
              <a:rPr lang="es-EC" sz="3400" b="1">
                <a:solidFill>
                  <a:srgbClr val="F64E6B"/>
                </a:solidFill>
                <a:latin typeface="Aptos Display"/>
              </a:rPr>
              <a:t>→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03DE323-FDB0-458C-87BC-A632925492A3}"/>
              </a:ext>
            </a:extLst>
          </p:cNvPr>
          <p:cNvSpPr txBox="1"/>
          <p:nvPr/>
        </p:nvSpPr>
        <p:spPr>
          <a:xfrm>
            <a:off x="5969000" y="2286000"/>
            <a:ext cx="3302000" cy="57451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pPr algn="ctr"/>
            <a:r>
              <a:rPr lang="es-EC" sz="2400" b="1">
                <a:solidFill>
                  <a:srgbClr val="1F2117"/>
                </a:solidFill>
                <a:latin typeface="Aptos Display"/>
              </a:rPr>
              <a:t>Motor Gemini AI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CAC9CB7-73E7-4E37-8481-A7872ABA4D17}"/>
              </a:ext>
            </a:extLst>
          </p:cNvPr>
          <p:cNvSpPr txBox="1"/>
          <p:nvPr/>
        </p:nvSpPr>
        <p:spPr>
          <a:xfrm>
            <a:off x="9525000" y="2349500"/>
            <a:ext cx="1016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pPr algn="ctr"/>
            <a:r>
              <a:rPr lang="es-EC" sz="3400" b="1">
                <a:solidFill>
                  <a:srgbClr val="F64E6B"/>
                </a:solidFill>
                <a:latin typeface="Aptos Display"/>
              </a:rPr>
              <a:t>→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2A46376-C11C-472F-B050-6248576AA4E2}"/>
              </a:ext>
            </a:extLst>
          </p:cNvPr>
          <p:cNvSpPr txBox="1"/>
          <p:nvPr/>
        </p:nvSpPr>
        <p:spPr>
          <a:xfrm>
            <a:off x="10668000" y="2286000"/>
            <a:ext cx="3302000" cy="57451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pPr algn="ctr"/>
            <a:r>
              <a:rPr lang="es-EC" sz="2400" b="1">
                <a:solidFill>
                  <a:srgbClr val="1F2117"/>
                </a:solidFill>
                <a:latin typeface="Aptos Display"/>
              </a:rPr>
              <a:t>Texto adaptado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9B78F8-72EB-4B52-A59A-26AC20FAE5B9}"/>
              </a:ext>
            </a:extLst>
          </p:cNvPr>
          <p:cNvSpPr txBox="1"/>
          <p:nvPr/>
        </p:nvSpPr>
        <p:spPr>
          <a:xfrm>
            <a:off x="1397000" y="3937000"/>
            <a:ext cx="12700000" cy="1682512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200">
                <a:solidFill>
                  <a:srgbClr val="1F2117"/>
                </a:solidFill>
                <a:latin typeface="Aptos Display"/>
              </a:rPr>
              <a:t>Ejemplo: si el usuario requiere apoyo visual o comunicacional, la app puede simplificar instrucciones, reforzar pictogramas y adaptar el ritmo de lectura.</a:t>
            </a:r>
            <a:endParaRPr lang="es-EC" sz="3200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20FAEB0-C7E7-4F7B-BC98-B412E4765531}"/>
              </a:ext>
            </a:extLst>
          </p:cNvPr>
          <p:cNvSpPr txBox="1"/>
          <p:nvPr/>
        </p:nvSpPr>
        <p:spPr>
          <a:xfrm>
            <a:off x="1422400" y="6858000"/>
            <a:ext cx="12319000" cy="559127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2300">
                <a:solidFill>
                  <a:srgbClr val="5E6352"/>
                </a:solidFill>
                <a:latin typeface="Aptos Display"/>
              </a:rPr>
              <a:t>Actualmente funciona como demo local y queda listo para activar IA real con VITE_GEMINI_API_KEY.</a:t>
            </a:r>
          </a:p>
        </p:txBody>
      </p:sp>
    </p:spTree>
    <p:extLst>
      <p:ext uri="{BB962C8B-B14F-4D97-AF65-F5344CB8AC3E}">
        <p14:creationId xmlns:p14="http://schemas.microsoft.com/office/powerpoint/2010/main" val="749774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31D1362-20F2-4D05-B72C-FEF0731514F4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7315CA-53B5-4441-A3EE-03D957D947CF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576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7F0E30-F76C-4922-B48E-47653C14437A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400" b="1">
                <a:solidFill>
                  <a:srgbClr val="FFFFFF"/>
                </a:solidFill>
                <a:latin typeface="Aptos Display"/>
              </a:rPr>
              <a:t>Impacto ODS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B10DCA-9106-42C8-8481-D9FFBCB36748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1600">
                <a:solidFill>
                  <a:srgbClr val="E4EED8"/>
                </a:solidFill>
                <a:latin typeface="Aptos Display"/>
              </a:rPr>
              <a:t>AMARU KIDS apunta a inclusion educativa medible.</a:t>
            </a:r>
            <a:endParaRPr lang="es-EC" sz="1600">
              <a:solidFill>
                <a:srgbClr val="E4EED8"/>
              </a:solidFill>
              <a:latin typeface="Aptos Display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2414F9-D183-4546-AF30-41948BC557B6}"/>
              </a:ext>
            </a:extLst>
          </p:cNvPr>
          <p:cNvSpPr txBox="1"/>
          <p:nvPr/>
        </p:nvSpPr>
        <p:spPr>
          <a:xfrm>
            <a:off x="1206500" y="2286000"/>
            <a:ext cx="2413000" cy="88229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4400" b="1">
                <a:solidFill>
                  <a:srgbClr val="576B17"/>
                </a:solidFill>
                <a:latin typeface="Aptos Display"/>
              </a:rPr>
              <a:t>ODS 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4D1901-AA81-4597-B415-75ABB667A38F}"/>
              </a:ext>
            </a:extLst>
          </p:cNvPr>
          <p:cNvSpPr txBox="1"/>
          <p:nvPr/>
        </p:nvSpPr>
        <p:spPr>
          <a:xfrm>
            <a:off x="1206500" y="3111500"/>
            <a:ext cx="10160000" cy="106695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2800">
                <a:solidFill>
                  <a:srgbClr val="1F2117"/>
                </a:solidFill>
                <a:latin typeface="Aptos Display"/>
              </a:rPr>
              <a:t>Educacion de calidad para ninos con necesidades educativas especificas.</a:t>
            </a:r>
            <a:endParaRPr lang="es-EC" sz="2800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5258F73-724A-417D-B87F-282A6E9A1766}"/>
              </a:ext>
            </a:extLst>
          </p:cNvPr>
          <p:cNvSpPr txBox="1"/>
          <p:nvPr/>
        </p:nvSpPr>
        <p:spPr>
          <a:xfrm>
            <a:off x="1206500" y="4635500"/>
            <a:ext cx="2667000" cy="882293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4400" b="1">
                <a:solidFill>
                  <a:srgbClr val="753F1D"/>
                </a:solidFill>
                <a:latin typeface="Aptos Display"/>
              </a:rPr>
              <a:t>ODS 10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C8133B9-3EB6-4539-9080-DA21B84E1AF1}"/>
              </a:ext>
            </a:extLst>
          </p:cNvPr>
          <p:cNvSpPr txBox="1"/>
          <p:nvPr/>
        </p:nvSpPr>
        <p:spPr>
          <a:xfrm>
            <a:off x="1206500" y="5461000"/>
            <a:ext cx="11430000" cy="106695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2800">
                <a:solidFill>
                  <a:srgbClr val="1F2117"/>
                </a:solidFill>
                <a:latin typeface="Aptos Display"/>
              </a:rPr>
              <a:t>Reduccion de desigualdades mediante tecnologia accesible en espanol y contexto latinoamericano.</a:t>
            </a:r>
            <a:endParaRPr lang="es-EC" sz="2800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02D4AC-655D-4077-AD54-BF8830DC8631}"/>
              </a:ext>
            </a:extLst>
          </p:cNvPr>
          <p:cNvSpPr txBox="1"/>
          <p:nvPr/>
        </p:nvSpPr>
        <p:spPr>
          <a:xfrm>
            <a:off x="1206500" y="7239000"/>
            <a:ext cx="12192000" cy="913070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2300">
                <a:solidFill>
                  <a:srgbClr val="5E6352"/>
                </a:solidFill>
                <a:latin typeface="Aptos Display"/>
              </a:rPr>
              <a:t>Metricas MVP: usuarios registrados, historias completadas, tiempo de uso, satisfaccion familiar y participacion estudiantil.</a:t>
            </a:r>
            <a:endParaRPr lang="es-EC" sz="2300">
              <a:solidFill>
                <a:srgbClr val="5E6352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271448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08F53D8-FD62-4A05-990F-320CA22E1F43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6E1F52-300F-4F4B-A0CE-56531F3433F6}"/>
              </a:ext>
            </a:extLst>
          </p:cNvPr>
          <p:cNvSpPr/>
          <p:nvPr/>
        </p:nvSpPr>
        <p:spPr>
          <a:xfrm>
            <a:off x="0" y="0"/>
            <a:ext cx="16256000" cy="1524000"/>
          </a:xfrm>
          <a:prstGeom prst="rect">
            <a:avLst/>
          </a:prstGeom>
          <a:solidFill>
            <a:srgbClr val="576B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A2CBF5-06BC-4323-9748-29020B0780CD}"/>
              </a:ext>
            </a:extLst>
          </p:cNvPr>
          <p:cNvSpPr txBox="1"/>
          <p:nvPr/>
        </p:nvSpPr>
        <p:spPr>
          <a:xfrm>
            <a:off x="812800" y="355600"/>
            <a:ext cx="1092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400" b="1">
                <a:solidFill>
                  <a:srgbClr val="FFFFFF"/>
                </a:solidFill>
                <a:latin typeface="Aptos Display"/>
              </a:rPr>
              <a:t>Equipo AMARU KIDS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3D3ED0-7118-4151-B4D9-500DBB4D2428}"/>
              </a:ext>
            </a:extLst>
          </p:cNvPr>
          <p:cNvSpPr txBox="1"/>
          <p:nvPr/>
        </p:nvSpPr>
        <p:spPr>
          <a:xfrm>
            <a:off x="838200" y="1016000"/>
            <a:ext cx="11430000" cy="451406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1600">
                <a:solidFill>
                  <a:srgbClr val="E4EED8"/>
                </a:solidFill>
                <a:latin typeface="Aptos Display"/>
              </a:rPr>
              <a:t>Hackathon 2026 · MVP educativo inclusivo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B66583-4AEE-4460-B349-013A49754B2B}"/>
              </a:ext>
            </a:extLst>
          </p:cNvPr>
          <p:cNvSpPr txBox="1"/>
          <p:nvPr/>
        </p:nvSpPr>
        <p:spPr>
          <a:xfrm>
            <a:off x="1460500" y="2286000"/>
            <a:ext cx="11430000" cy="66684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MX" sz="3000" b="1">
                <a:solidFill>
                  <a:srgbClr val="1F2117"/>
                </a:solidFill>
                <a:latin typeface="Aptos Display"/>
              </a:rPr>
              <a:t>Abigail Flores · Lider del Proyecto</a:t>
            </a:r>
            <a:endParaRPr lang="es-EC" sz="3000" b="1">
              <a:solidFill>
                <a:srgbClr val="1F2117"/>
              </a:solidFill>
              <a:latin typeface="Aptos Display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AA230B-17EA-44D8-95C1-902303E21F62}"/>
              </a:ext>
            </a:extLst>
          </p:cNvPr>
          <p:cNvSpPr txBox="1"/>
          <p:nvPr/>
        </p:nvSpPr>
        <p:spPr>
          <a:xfrm>
            <a:off x="1460500" y="3111500"/>
            <a:ext cx="11430000" cy="66684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000" b="1">
                <a:solidFill>
                  <a:srgbClr val="1F2117"/>
                </a:solidFill>
                <a:latin typeface="Aptos Display"/>
              </a:rPr>
              <a:t>Marthina Correa · Diseno e Investigacion UX/UI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B6D8EF1-4667-4E88-A047-2DE5E37D8BE0}"/>
              </a:ext>
            </a:extLst>
          </p:cNvPr>
          <p:cNvSpPr txBox="1"/>
          <p:nvPr/>
        </p:nvSpPr>
        <p:spPr>
          <a:xfrm>
            <a:off x="1460500" y="3937000"/>
            <a:ext cx="11430000" cy="66684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000" b="1">
                <a:solidFill>
                  <a:srgbClr val="1F2117"/>
                </a:solidFill>
                <a:latin typeface="Aptos Display"/>
              </a:rPr>
              <a:t>Luciana Penaherrera · Innovacion y Tecnologia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61F6B9-98C9-4096-83B4-91B5DD4BF9C3}"/>
              </a:ext>
            </a:extLst>
          </p:cNvPr>
          <p:cNvSpPr txBox="1"/>
          <p:nvPr/>
        </p:nvSpPr>
        <p:spPr>
          <a:xfrm>
            <a:off x="1460500" y="4762500"/>
            <a:ext cx="11430000" cy="666849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r>
              <a:rPr lang="es-EC" sz="3000" b="1">
                <a:solidFill>
                  <a:srgbClr val="1F2117"/>
                </a:solidFill>
                <a:latin typeface="Aptos Display"/>
              </a:rPr>
              <a:t>Daniela · Mentora Pedagogica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6BE64BF-A532-4906-9343-6A9C8681DF01}"/>
              </a:ext>
            </a:extLst>
          </p:cNvPr>
          <p:cNvSpPr txBox="1"/>
          <p:nvPr/>
        </p:nvSpPr>
        <p:spPr>
          <a:xfrm>
            <a:off x="1460500" y="6477000"/>
            <a:ext cx="12192000" cy="728405"/>
          </a:xfrm>
          <a:prstGeom prst="rect">
            <a:avLst/>
          </a:prstGeom>
          <a:noFill/>
        </p:spPr>
        <p:txBody>
          <a:bodyPr vert="horz" lIns="127000" tIns="101600" rIns="127000" bIns="101600" rtlCol="0">
            <a:spAutoFit/>
          </a:bodyPr>
          <a:lstStyle/>
          <a:p>
            <a:pPr algn="ctr"/>
            <a:r>
              <a:rPr lang="es-MX" sz="3400" b="1">
                <a:solidFill>
                  <a:srgbClr val="576B17"/>
                </a:solidFill>
                <a:latin typeface="Aptos Display"/>
              </a:rPr>
              <a:t>AMARU KIDS: que ningun nino quede fuera del aprendizaje digital.</a:t>
            </a:r>
            <a:endParaRPr lang="es-EC" sz="3400" b="1">
              <a:solidFill>
                <a:srgbClr val="576B17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820748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Personalizado</PresentationFormat>
  <Paragraphs>56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Lenovo</dc:creator>
  <cp:lastModifiedBy>Lenovo</cp:lastModifiedBy>
  <cp:revision>1</cp:revision>
  <dcterms:created xsi:type="dcterms:W3CDTF">2026-06-16T01:28:38Z</dcterms:created>
  <dcterms:modified xsi:type="dcterms:W3CDTF">2026-06-16T01:28:38Z</dcterms:modified>
</cp:coreProperties>
</file>